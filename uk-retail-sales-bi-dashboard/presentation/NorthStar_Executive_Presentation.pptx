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tension: growth looks healthy, but profit grew at less than two-thirds the rate of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Revenue is growing. Profit isn't keeping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NorthStar Retail UK (fictional) · simulated data ·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Leadership receives four disconnected weekly reports (stores, e-commerce, finance, returns) that disagree.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Revenue grew in 2025, but no one could say where profit was being made or lost.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Suspected causes: weak-margin categories, heavy discounting, rising returns, under-performing stores.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This project builds one trusted source of truth and answers: what is happening, why, where, and what to 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737360"/>
            <a:ext cx="2148840" cy="1143000"/>
          </a:xfrm>
          <a:prstGeom prst="rect">
            <a:avLst/>
          </a:prstGeom>
          <a:solidFill>
            <a:srgbClr val="F1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8105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Revenue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084831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£4.58M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514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+15.7% vs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737360"/>
            <a:ext cx="2148840" cy="1143000"/>
          </a:xfrm>
          <a:prstGeom prst="rect">
            <a:avLst/>
          </a:prstGeom>
          <a:solidFill>
            <a:srgbClr val="F1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18105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Gross profit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084831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£1.88M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514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+9.4% vs 2024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3108960"/>
            <a:ext cx="2148840" cy="1143000"/>
          </a:xfrm>
          <a:prstGeom prst="rect">
            <a:avLst/>
          </a:prstGeom>
          <a:solidFill>
            <a:srgbClr val="F1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31821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Gross margin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4564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41.0%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8862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−2.4 pts vs 2024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3108960"/>
            <a:ext cx="2148840" cy="1143000"/>
          </a:xfrm>
          <a:prstGeom prst="rect">
            <a:avLst/>
          </a:prstGeom>
          <a:solidFill>
            <a:srgbClr val="F1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31821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Return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4564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8.3%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8862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+1.2 pts vs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2 · BUSINESS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What leadership asked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NorthStar Retail UK (fictional) · simulated data ·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754880"/>
                <a:gridCol w="5486400"/>
              </a:tblGrid>
              <a:tr h="548640">
                <a:tc>
                  <a:txBody>
                    <a:bodyPr/>
                    <a:lstStyle/>
                    <a:p>
                      <a:r>
                        <a:rPr sz="150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Measure of success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/>
                        <a:t>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One trusted source of truth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KPIs reconcile SQL ↔ Power BI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/>
                        <a:t>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See where profit is made or lost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Drill company → region → store → product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/>
                        <a:t>O3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Quantify the cost of discounting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Margin by discount band, break-even discount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/>
                        <a:t>O4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Explain rising returns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By category, channel, brand and reason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/>
                        <a:t>O5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Understand customer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Segments, retention, RFM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/>
                        <a:t>O6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Recommend prioritised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≥ 8 recommendations with stated assumptions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Out of scope: inventory, marketing spend, overheads → we report gross profit, not net profit.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3 · DATA &amp;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185,858 order lines, 24 months, one star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NorthStar Retail UK (fictional) · simulated data ·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Pipeline: raw CSV extracts → Python validation &amp; cleaning → PostgreSQL star schema → 40 SQL business questions → Power BI model + DAX → insights.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Scale: 89,528 orders · 9,530 known customers · 1,220 products · 24 stores + online · 12 UK regions · Jan 2024 – Dec 2025.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Model: FactSales (grain = order line) + FactReturns, sharing six dimensions (Date, Customer, Product, Store, Region, Channel).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Synthetic data with designed business patterns: seasonality, channel shift, discounting, supplier issues.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645920"/>
            <a:ext cx="5577840" cy="4389120"/>
          </a:xfrm>
          <a:prstGeom prst="rect">
            <a:avLst/>
          </a:prstGeom>
          <a:solidFill>
            <a:srgbClr val="F1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            DimDate      DimProduct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                  \           /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DimCustomer — FactSales — DimStore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                  /           \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         DimChannel     DimRegion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FactReturns shares the same dimensions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(return date active; order date inactive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→ USERELATIONSHIP in DAX)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4 ·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Messy sources, measured and fixed, not hidden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NorthStar Retail UK (fictional) · simulated data ·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67665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1188720"/>
                <a:gridCol w="1188720"/>
              </a:tblGrid>
              <a:tr h="496388">
                <a:tc>
                  <a:txBody>
                    <a:bodyPr/>
                    <a:lstStyle/>
                    <a:p>
                      <a:r>
                        <a:rPr sz="1400"/>
                        <a:t>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After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400"/>
                        <a:t>Sales validity (date, qty, discount, channel)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100%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400"/>
                        <a:t>Channel labels (target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400"/>
                        <a:t>Category labels (target 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400"/>
                        <a:t>Duplicate sales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400"/>
                        <a:t>Duplicate customers (same email)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</a:t>
                      </a:r>
                    </a:p>
                  </a:txBody>
                  <a:tcPr/>
                </a:tc>
              </a:tr>
              <a:tr h="496392">
                <a:tc>
                  <a:txBody>
                    <a:bodyPr/>
                    <a:lstStyle/>
                    <a:p>
                      <a:r>
                        <a:rPr sz="1400"/>
                        <a:t>Returns linked to a sale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99.87%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40 documented rules: fix if certain, flag if uncertain, quarantine if untrustworthy.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90 sales rows quarantined (0.05%): impossible dates, negative quantities, unknown SKUs.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Guest (blank) customers kept as a legitimate 'unknown member', not deleted.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Proof: 100% of cleaned lines match the answer key; 13/13 SQL checks pass.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5 ·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Growth is digital; stores are flat like-for-like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NorthStar Retail UK (fictional) · simulated data ·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5</a:t>
            </a:r>
          </a:p>
        </p:txBody>
      </p:sp>
      <p:pic>
        <p:nvPicPr>
          <p:cNvPr id="7" name="Picture 6" descr="04_channel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760720" cy="2761676"/>
          </a:xfrm>
          <a:prstGeom prst="rect">
            <a:avLst/>
          </a:prstGeom>
        </p:spPr>
      </p:pic>
      <p:pic>
        <p:nvPicPr>
          <p:cNvPr id="8" name="Picture 7" descr="01_monthly_revenue_mar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54480"/>
            <a:ext cx="5394960" cy="35754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572000"/>
            <a:ext cx="5669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Mobile App +49%, Website +22%, Click &amp; Collect +24%, In-Store +4%.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Like-for-like stores +5.3% vs online hub +29%. Headline growth flatters the store estate.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6 ·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Margin fell 2.4 pts: discounting and unrecovered cost inflation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NorthStar Retail UK (fictional) · simulated data ·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6</a:t>
            </a:r>
          </a:p>
        </p:txBody>
      </p:sp>
      <p:pic>
        <p:nvPicPr>
          <p:cNvPr id="7" name="Picture 6" descr="09_margin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910228" cy="3520440"/>
          </a:xfrm>
          <a:prstGeom prst="rect">
            <a:avLst/>
          </a:prstGeom>
        </p:spPr>
      </p:pic>
      <p:pic>
        <p:nvPicPr>
          <p:cNvPr id="8" name="Picture 7" descr="03_discount_vs_mar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5707079" cy="3520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21208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Electronics: 19% of revenue, 6% of profit. 2025 revenue +14.6% but gross profit −13%. Breaks even at an 18.7% discount.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Lines discounted 30%+ in 2025: £406K revenue, only £56K gross profit.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7 ·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A loyal core, and 1,450 valuable customers drifting 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NorthStar Retail UK (fictional) · simulated data ·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7</a:t>
            </a:r>
          </a:p>
        </p:txBody>
      </p:sp>
      <p:pic>
        <p:nvPicPr>
          <p:cNvPr id="7" name="Picture 6" descr="10_rfm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035040" cy="29366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656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14% of customers generate 50% of known-customer revenue; 38% generate 80%.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Returning customers place ~93% of orders.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Premium: £1,380 per customer, buys every ~20 days (median).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'At risk' segment: formerly loyal (avg 7.7 orders), no purchase for ~8 months, 14.6% of revenue.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32–34% of in-store revenue is anonymous: can't be retained or analysed.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8 · RETURNS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Online returns rising, driven by one footwear supplier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NorthStar Retail UK (fictional) · simulated data ·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8</a:t>
            </a:r>
          </a:p>
        </p:txBody>
      </p:sp>
      <p:pic>
        <p:nvPicPr>
          <p:cNvPr id="7" name="Picture 6" descr="06_online_apparel_retur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852160" cy="2755246"/>
          </a:xfrm>
          <a:prstGeom prst="rect">
            <a:avLst/>
          </a:prstGeom>
        </p:spPr>
      </p:pic>
      <p:pic>
        <p:nvPicPr>
          <p:cNvPr id="8" name="Picture 7" descr="07_brand_return_r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54480"/>
            <a:ext cx="5394960" cy="25025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3434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Online clothing &amp; footwear return rate ~16% → ~27%; refunds £83K → £160K.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Stride Lab 10% → 28% (83% 'wrong size / fit'). Voltix smart home: 22% vs 6% for other brands ('faulty').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After refunds, website margin is 28% vs 39% in store.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9 · 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Five things leadership should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NorthStar Retail UK (fictional) · simulated data ·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64240" cy="804672"/>
          </a:xfrm>
          <a:prstGeom prst="rect">
            <a:avLst/>
          </a:prstGeom>
          <a:solidFill>
            <a:srgbClr val="F1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0992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2A78D6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673352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Profit grows slower than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728216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Margin −2.4 pts: −1.6 cost inflation not passed on, −0.8 more discounting.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32888"/>
            <a:ext cx="11064240" cy="804672"/>
          </a:xfrm>
          <a:prstGeom prst="rect">
            <a:avLst/>
          </a:prstGeom>
          <a:solidFill>
            <a:srgbClr val="F1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4261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2A78D6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6060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Electronics sells volume, not 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660904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11% margin in 2025; discounts over ~19% sell below cost.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65576"/>
            <a:ext cx="11064240" cy="804672"/>
          </a:xfrm>
          <a:prstGeom prst="rect">
            <a:avLst/>
          </a:prstGeom>
          <a:solidFill>
            <a:srgbClr val="F1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7530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2A78D6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53872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Deep discounts don't pay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593592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30%+ discounts: 14% margin on £406K of 2025 revenue.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398264"/>
            <a:ext cx="11064240" cy="804672"/>
          </a:xfrm>
          <a:prstGeom prst="rect">
            <a:avLst/>
          </a:prstGeom>
          <a:solidFill>
            <a:srgbClr val="F1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5079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2A78D6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471416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Returns are a supplier &amp; sizing 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52628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Stride Lab sizing and Voltix faults explain most of the spike.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30952"/>
            <a:ext cx="11064240" cy="804672"/>
          </a:xfrm>
          <a:prstGeom prst="rect">
            <a:avLst/>
          </a:prstGeom>
          <a:solidFill>
            <a:srgbClr val="F1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440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2A78D6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404104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Two stores discount like outlets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5458968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Newcastle 15% average discount vs ~5% at peers → 37% margin vs ~44%.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10 · RECOMMENDATIONS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Start with the quick wins: ~£120–140K gross profit a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NorthStar Retail UK (fictional) · simulated data ·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11_impact_effor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968785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155448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30 days: discount guardrails by category (Electronics max 15%), ~£28K;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Stride Lab &amp; Voltix supplier action, ~£30–49K; Newcastle promotion sign-off, ~£6K.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60 days: size guidance on top apparel lines (~£20K per 3 pts of returns); win-back campaign, ~£13K.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90 days: Electronics price/cost review, ~£25K; till customer capture; report margin after returns per channel.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Estimates are illustrative, based on simulated data with stated assumptions (insights/02_recommendations.md).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